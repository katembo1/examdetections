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4612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34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EXAM DETECTION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0F0"/>
                </a:solidFill>
              </a:rPr>
              <a:t>AI-Powered Real-Time Cheating Detection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429000"/>
            <a:ext cx="1645920" cy="384048"/>
          </a:xfrm>
          <a:prstGeom prst="rect">
            <a:avLst/>
          </a:prstGeom>
          <a:solidFill>
            <a:srgbClr val="234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42900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YOLOv8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3429000"/>
            <a:ext cx="1645920" cy="384048"/>
          </a:xfrm>
          <a:prstGeom prst="rect">
            <a:avLst/>
          </a:prstGeom>
          <a:solidFill>
            <a:srgbClr val="234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342900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ONNX Runtime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3429000"/>
            <a:ext cx="1645920" cy="384048"/>
          </a:xfrm>
          <a:prstGeom prst="rect">
            <a:avLst/>
          </a:prstGeom>
          <a:solidFill>
            <a:srgbClr val="234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42900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Flask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3429000"/>
            <a:ext cx="1645920" cy="384048"/>
          </a:xfrm>
          <a:prstGeom prst="rect">
            <a:avLst/>
          </a:prstGeom>
          <a:solidFill>
            <a:srgbClr val="234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342900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Real-Time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3429000"/>
            <a:ext cx="1645920" cy="384048"/>
          </a:xfrm>
          <a:prstGeom prst="rect">
            <a:avLst/>
          </a:prstGeom>
          <a:solidFill>
            <a:srgbClr val="234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342900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Multi-Camera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2910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CCEE"/>
                </a:solidFill>
              </a:rPr>
              <a:t>Project Presentation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Architecture overview of the Exam Detection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</a:rPr>
              <a:t>Exam Detection System  |  AI-Powered Exam Monitoring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53035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5303520" cy="4114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2984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📐  Design Goals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856231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Real-time detection (&lt; 50 ms per frame)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167127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Multi-camera concurrent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478023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Configurable confidence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788919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Persistent analytics &amp; audit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099815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Browser-based dashboard (no install)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410711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Docker-ready for rapid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3721607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RESTful API + WebSocket streaming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4032503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ONNX runtime for lightweight inference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1280160"/>
            <a:ext cx="60807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2160" y="1280160"/>
            <a:ext cx="6080760" cy="411480"/>
          </a:xfrm>
          <a:prstGeom prst="rect">
            <a:avLst/>
          </a:prstGeom>
          <a:solidFill>
            <a:srgbClr val="234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1298448"/>
            <a:ext cx="5989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🏛  Layer Architecture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783080"/>
            <a:ext cx="5852160" cy="6217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180136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Presentation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05740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HTML5 + Jinja2 templates, CSS Grid, JS WebSocket client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2468880"/>
            <a:ext cx="5852160" cy="621792"/>
          </a:xfrm>
          <a:prstGeom prst="rect">
            <a:avLst/>
          </a:prstGeom>
          <a:solidFill>
            <a:srgbClr val="009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9320" y="248716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API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274320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Flask REST endpoints + Socket.IO real-time events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3154680"/>
            <a:ext cx="5852160" cy="6217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9320" y="317296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Business Logic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42900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Camera worker threads, frame pipeline, inference orchestration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3840480"/>
            <a:ext cx="5852160" cy="621792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9320" y="385876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AI/ML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411480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YOLOv8 ONNX model · letterbox preprocessing · NMS post-processing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4526280"/>
            <a:ext cx="5852160" cy="621792"/>
          </a:xfrm>
          <a:prstGeom prst="rect">
            <a:avLst/>
          </a:prstGeom>
          <a:solidFill>
            <a:srgbClr val="C0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89320" y="454456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480060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SQLAlchemy ORM · PostgreSQL · Flask-Migrate Alembic migrations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5212080"/>
            <a:ext cx="5852160" cy="621792"/>
          </a:xfrm>
          <a:prstGeom prst="rect">
            <a:avLst/>
          </a:prstGeom>
          <a:solidFill>
            <a:srgbClr val="234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89320" y="523036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Infrastructure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548640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Docker container · Python 3.12 · Gunicorn WSGI server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 &amp; Dataflow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End-to-end data pipeline and component interactions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</a:rPr>
              <a:t>Exam Detection System  |  AI-Powered Exam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2344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444"/>
                </a:solidFill>
              </a:rPr>
              <a:t>DATA SOURCES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1920240" cy="7772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5544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📷 Cameras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901952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EEFF"/>
                </a:solidFill>
              </a:rPr>
              <a:t>Hardware / RTSP / 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1508760"/>
            <a:ext cx="1920240" cy="7772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15544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📁 Video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1901952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EEFF"/>
                </a:solidFill>
              </a:rPr>
              <a:t>MP4 / AVI upload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1508760"/>
            <a:ext cx="1920240" cy="7772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5544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🌐 Roboflow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1901952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EEFF"/>
                </a:solidFill>
              </a:rPr>
              <a:t>Dataset /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5603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444"/>
                </a:solidFill>
              </a:rPr>
              <a:t>PROCESSING ENGINE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788920"/>
            <a:ext cx="2560320" cy="868680"/>
          </a:xfrm>
          <a:prstGeom prst="rect">
            <a:avLst/>
          </a:prstGeom>
          <a:solidFill>
            <a:srgbClr val="234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834639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⚙  Camera Worker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182112"/>
            <a:ext cx="246887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EEFF"/>
                </a:solidFill>
              </a:rPr>
              <a:t>Thread-per-camera, frame capture &amp; queue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2788920"/>
            <a:ext cx="2560320" cy="868680"/>
          </a:xfrm>
          <a:prstGeom prst="rect">
            <a:avLst/>
          </a:prstGeom>
          <a:solidFill>
            <a:srgbClr val="009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3239" y="2834639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🔍 ONNX Inference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39" y="3182112"/>
            <a:ext cx="246887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EEFF"/>
                </a:solidFill>
              </a:rPr>
              <a:t>YOLOv8 model
Letterbox → NMS → Boxes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2788920"/>
            <a:ext cx="2286000" cy="868680"/>
          </a:xfrm>
          <a:prstGeom prst="rect">
            <a:avLst/>
          </a:prstGeom>
          <a:solidFill>
            <a:srgbClr val="C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6440" y="283463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📤 Flask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3182112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EEFF"/>
                </a:solidFill>
              </a:rPr>
              <a:t>REST endpoints
Socket.IO events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393192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444"/>
                </a:solidFill>
              </a:rPr>
              <a:t>STORAGE &amp; PRESENTATION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160520"/>
            <a:ext cx="2286000" cy="868680"/>
          </a:xfrm>
          <a:prstGeom prst="rect">
            <a:avLst/>
          </a:prstGeom>
          <a:solidFill>
            <a:srgbClr val="C0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2062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🗄  PostgreSQL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553712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EEFF"/>
                </a:solidFill>
              </a:rPr>
              <a:t>Cameras, Uploads
Analytics tables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4160520"/>
            <a:ext cx="2286000" cy="8686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88920" y="42062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📊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8920" y="4553712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EEFF"/>
                </a:solidFill>
              </a:rPr>
              <a:t>Live feeds, Stats
Upload analysis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80" y="4160520"/>
            <a:ext cx="2286000" cy="8686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800" y="42062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🖥  Browser Client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4553712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DEEFF"/>
                </a:solidFill>
              </a:rPr>
              <a:t>HTML5 + WebSocket
Real-time display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76272" y="1901952"/>
            <a:ext cx="36576" cy="886967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121408" y="2679191"/>
            <a:ext cx="155448" cy="10972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79392" y="1901952"/>
            <a:ext cx="36576" cy="886967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24528" y="2679191"/>
            <a:ext cx="155448" cy="10972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34640" y="3209544"/>
            <a:ext cx="182879" cy="36576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907791" y="3154679"/>
            <a:ext cx="109728" cy="15544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577840" y="3209544"/>
            <a:ext cx="182880" cy="36576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50992" y="3154679"/>
            <a:ext cx="109728" cy="15544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399032" y="3657600"/>
            <a:ext cx="36576" cy="502919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344168" y="4050791"/>
            <a:ext cx="155448" cy="10972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85432" y="3657600"/>
            <a:ext cx="36576" cy="502919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30568" y="4050791"/>
            <a:ext cx="155448" cy="10972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560320" y="4572000"/>
            <a:ext cx="182880" cy="36576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633472" y="4517136"/>
            <a:ext cx="109728" cy="15544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29200" y="4572000"/>
            <a:ext cx="182880" cy="36576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02352" y="4517136"/>
            <a:ext cx="109728" cy="15544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229600" y="1188720"/>
            <a:ext cx="3749039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29600" y="1188720"/>
            <a:ext cx="3749039" cy="347472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75320" y="120700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📅  Project Timeline (Gantt)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5320" y="138988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4444"/>
                </a:solidFill>
              </a:rPr>
              <a:t>Month 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75320" y="1572768"/>
            <a:ext cx="18288" cy="352958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64040" y="138988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4444"/>
                </a:solidFill>
              </a:rPr>
              <a:t>Month 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64040" y="1572768"/>
            <a:ext cx="18288" cy="352958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652760" y="138988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4444"/>
                </a:solidFill>
              </a:rPr>
              <a:t>Month 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652760" y="1572768"/>
            <a:ext cx="18288" cy="352958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75320" y="1627632"/>
            <a:ext cx="356616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75320" y="1664208"/>
            <a:ext cx="1069848" cy="31089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21040" y="1700784"/>
            <a:ext cx="3474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444444"/>
                </a:solidFill>
              </a:rPr>
              <a:t>Requirements &amp; Design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75320" y="2057400"/>
            <a:ext cx="356616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631936" y="2093976"/>
            <a:ext cx="713232" cy="310896"/>
          </a:xfrm>
          <a:prstGeom prst="rect">
            <a:avLst/>
          </a:prstGeom>
          <a:solidFill>
            <a:srgbClr val="009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21040" y="2130552"/>
            <a:ext cx="3474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444444"/>
                </a:solidFill>
              </a:rPr>
              <a:t>Dataset (Roboflow)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75320" y="2487168"/>
            <a:ext cx="356616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988552" y="2523744"/>
            <a:ext cx="1069848" cy="3108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21040" y="2560320"/>
            <a:ext cx="3474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444444"/>
                </a:solidFill>
              </a:rPr>
              <a:t>Model Training (YOLOv8)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75320" y="2916936"/>
            <a:ext cx="356616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345168" y="2953512"/>
            <a:ext cx="713232" cy="310896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21040" y="2990088"/>
            <a:ext cx="3474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444444"/>
                </a:solidFill>
              </a:rPr>
              <a:t>ONNX Export &amp; Integration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75320" y="3346704"/>
            <a:ext cx="356616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345168" y="3383280"/>
            <a:ext cx="1426464" cy="310896"/>
          </a:xfrm>
          <a:prstGeom prst="rect">
            <a:avLst/>
          </a:prstGeom>
          <a:solidFill>
            <a:srgbClr val="234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21040" y="3419856"/>
            <a:ext cx="3474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444444"/>
                </a:solidFill>
              </a:rPr>
              <a:t>Backend (Flask API)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75320" y="3776472"/>
            <a:ext cx="356616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058400" y="3813048"/>
            <a:ext cx="713232" cy="310896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321040" y="3849624"/>
            <a:ext cx="3474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444444"/>
                </a:solidFill>
              </a:rPr>
              <a:t>Frontend Dashboard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75320" y="4206240"/>
            <a:ext cx="356616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058400" y="4242816"/>
            <a:ext cx="713232" cy="310896"/>
          </a:xfrm>
          <a:prstGeom prst="rect">
            <a:avLst/>
          </a:prstGeom>
          <a:solidFill>
            <a:srgbClr val="C0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21040" y="4279392"/>
            <a:ext cx="3474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444444"/>
                </a:solidFill>
              </a:rPr>
              <a:t>Database Integration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75320" y="4636008"/>
            <a:ext cx="3566160" cy="3840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771632" y="4672584"/>
            <a:ext cx="1069848" cy="31089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21040" y="4709160"/>
            <a:ext cx="3474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444444"/>
                </a:solidFill>
              </a:rPr>
              <a:t>Testing &amp; QA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75320" y="513892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</a:rPr>
              <a:t>Weeks 1-7: Development   |   Weeks 8-10: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Available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Core components powering the Exam Detection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</a:rPr>
              <a:t>Exam Detection System  |  AI-Powered Exam Monitoring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2743200" cy="457200"/>
          </a:xfrm>
          <a:prstGeom prst="rect">
            <a:avLst/>
          </a:prstGeom>
          <a:solidFill>
            <a:srgbClr val="234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807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routes.py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79" y="1874519"/>
            <a:ext cx="246888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874519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3499A"/>
                </a:solidFill>
              </a:rPr>
              <a:t>REST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194560"/>
            <a:ext cx="252374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All API endpoints: camera management, live streaming, video upload/analysis, config, stats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82112" y="132588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82112" y="1325880"/>
            <a:ext cx="2743200" cy="4572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73552" y="13807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camera.py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9272" y="1874519"/>
            <a:ext cx="246888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9272" y="1874519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234E"/>
                </a:solidFill>
              </a:rPr>
              <a:t>Camera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194560"/>
            <a:ext cx="252374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Per-camera worker threads: frame capture, reconnection logic, MJPEG generation, RTSP support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9904" y="132588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9904" y="1325880"/>
            <a:ext cx="2743200" cy="457200"/>
          </a:xfrm>
          <a:prstGeom prst="rect">
            <a:avLst/>
          </a:prstGeom>
          <a:solidFill>
            <a:srgbClr val="009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1344" y="13807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inference.py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7064" y="1874519"/>
            <a:ext cx="246888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7064" y="1874519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973B"/>
                </a:solidFill>
              </a:rPr>
              <a:t>ONNX Inference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2194560"/>
            <a:ext cx="252374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YOLOv8 model runner: letterbox pre-processing, ONNX session, NMS post-processing, box drawing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97696" y="132588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97696" y="1325880"/>
            <a:ext cx="2743200" cy="457200"/>
          </a:xfrm>
          <a:prstGeom prst="rect">
            <a:avLst/>
          </a:prstGeom>
          <a:solidFill>
            <a:srgbClr val="C0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9136" y="13807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models.py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34856" y="1874519"/>
            <a:ext cx="246888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34856" y="1874519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2525"/>
                </a:solidFill>
              </a:rPr>
              <a:t>Database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07424" y="2194560"/>
            <a:ext cx="252374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SQLAlchemy ORM: CameraRecord, UploadRecord, UploadAnalytics tables with relationships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56616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3566160"/>
            <a:ext cx="2743200" cy="457200"/>
          </a:xfrm>
          <a:prstGeom prst="rect">
            <a:avLst/>
          </a:prstGeom>
          <a:solidFill>
            <a:srgbClr val="C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6210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state.py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79" y="4114800"/>
            <a:ext cx="246888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41148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6000"/>
                </a:solidFill>
              </a:rPr>
              <a:t>Runtime State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4434840"/>
            <a:ext cx="252374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Thread-safe global state: active cameras, stats, confidence, worker registry, frame history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82112" y="356616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182112" y="3566160"/>
            <a:ext cx="274320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73552" y="36210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ws_events.py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19272" y="4114800"/>
            <a:ext cx="246888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19272" y="41148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0F0"/>
                </a:solidFill>
              </a:rPr>
              <a:t>WebSocket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4434840"/>
            <a:ext cx="252374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Socket.IO handlers: subscribe/unsubscribe cameras, real-time frame push (base64 JPEG + metadata)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9904" y="356616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89904" y="3566160"/>
            <a:ext cx="2743200" cy="4572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81344" y="36210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utils.py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27064" y="4114800"/>
            <a:ext cx="246888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27064" y="41148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A0DAD"/>
                </a:solidFill>
              </a:rPr>
              <a:t>Utilities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99632" y="4434840"/>
            <a:ext cx="252374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Camera enumeration, reference parsing, upload saving, placeholder frames, connectivity tests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97696" y="356616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997696" y="3566160"/>
            <a:ext cx="2743200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89136" y="36210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dashboard.js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34856" y="4114800"/>
            <a:ext cx="246888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34856" y="41148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8080"/>
                </a:solidFill>
              </a:rPr>
              <a:t>Frontend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07424" y="4434840"/>
            <a:ext cx="252374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Browser client: REST + WebSocket integration, canvas rendering, stats updates, video upload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Database —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Persistent storage design using PostgreSQL with SQLAlchemy 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</a:rPr>
              <a:t>Exam Detection System  |  AI-Powered Exam Monitoring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11640312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5331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PostgreSQL is used as the production database, managed via Flask-SQLAlchemy ORM and Flask-Migrate (Alembic) for schema versioning.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11680"/>
            <a:ext cx="35661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011680"/>
            <a:ext cx="3566160" cy="502920"/>
          </a:xfrm>
          <a:prstGeom prst="rect">
            <a:avLst/>
          </a:prstGeom>
          <a:solidFill>
            <a:srgbClr val="234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08483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📷  cameras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606040"/>
            <a:ext cx="3346704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606040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3499A"/>
                </a:solidFill>
              </a:rPr>
              <a:t>COLUMNS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926080"/>
            <a:ext cx="3346704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95351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id  INTEGER PK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3218688"/>
            <a:ext cx="334670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32461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label  VARCHAR(120)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3511296"/>
            <a:ext cx="3346704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3538727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ref  VARCHAR(255)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803904"/>
            <a:ext cx="334670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383133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created_at  TIMESTAMP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4187952"/>
            <a:ext cx="33467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Stores registered camera sources — hardware indices, file paths, and RTSP URLs.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78224" y="2011680"/>
            <a:ext cx="35661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78224" y="2011680"/>
            <a:ext cx="3566160" cy="502920"/>
          </a:xfrm>
          <a:prstGeom prst="rect">
            <a:avLst/>
          </a:prstGeom>
          <a:solidFill>
            <a:srgbClr val="009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87952" y="208483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📁  uploads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87952" y="2606040"/>
            <a:ext cx="3346704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87952" y="2606040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973B"/>
                </a:solidFill>
              </a:rPr>
              <a:t>COLUMNS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87952" y="2926080"/>
            <a:ext cx="3346704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42816" y="295351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id  INTEGER PK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87952" y="3218688"/>
            <a:ext cx="334670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42816" y="32461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filename  VARCHAR(255)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87952" y="3511296"/>
            <a:ext cx="3346704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2816" y="3538727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path  VARCHAR(512)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87952" y="3803904"/>
            <a:ext cx="334670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42816" y="383133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created_at  TIMESTAMP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87952" y="4187952"/>
            <a:ext cx="33467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Records each uploaded video file with its filesystem path and upload timestamp.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82128" y="2011680"/>
            <a:ext cx="35661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882128" y="2011680"/>
            <a:ext cx="3566160" cy="502920"/>
          </a:xfrm>
          <a:prstGeom prst="rect">
            <a:avLst/>
          </a:prstGeom>
          <a:solidFill>
            <a:srgbClr val="C0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91856" y="208483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📊  upload_analytics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91856" y="2606040"/>
            <a:ext cx="3346704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91856" y="2606040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2525"/>
                </a:solidFill>
              </a:rPr>
              <a:t>COLUMNS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91856" y="2926080"/>
            <a:ext cx="3346704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0" y="295351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id  INTEGER PK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91856" y="3218688"/>
            <a:ext cx="334670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0" y="32461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upload_id  FK→uploads.id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91856" y="3511296"/>
            <a:ext cx="3346704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0" y="3538727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duration_sec  FLOAT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91856" y="3803904"/>
            <a:ext cx="334670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0" y="383133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frames  INTEGER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91856" y="4096512"/>
            <a:ext cx="3346704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46720" y="412394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avg_inference_ms  FLOAT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91856" y="4389120"/>
            <a:ext cx="334670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46720" y="441655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counts_json  TEXT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91856" y="4773168"/>
            <a:ext cx="33467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Stores per-video analysis results including detection counts, inference timing, and frame statistics.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6263640"/>
            <a:ext cx="11640312" cy="2743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628192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ORM: Flask-SQLAlchemy  |  Migrations: Flask-Migrate / Alembic  |  Connection: DATABASE_URL env var  |  Schema versioning via /migrations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Version Control —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Source code management, collaboration, and CI/CD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</a:rPr>
              <a:t>Exam Detection System  |  AI-Powered Exam Monitoring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194560" cy="219456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1488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630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325880"/>
            <a:ext cx="905256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1463039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499A"/>
                </a:solidFill>
              </a:rPr>
              <a:t>Benefits of GitHub Version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1810512"/>
            <a:ext cx="8778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Complete commit history for every code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121408"/>
            <a:ext cx="8778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Branching strategy: feature → develop → 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432303"/>
            <a:ext cx="8778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Pull Request review workflow before merging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743199"/>
            <a:ext cx="8778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Issue tracking for bugs and feature requests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054095"/>
            <a:ext cx="8778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GitHub Actions ready for CI/CD pipelines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364991"/>
            <a:ext cx="8778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Docker image builds triggered on push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675887"/>
            <a:ext cx="8778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Tag-based releases (v1.0, v1.1, …)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986783"/>
            <a:ext cx="8778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Collaborative development with code owners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94760"/>
            <a:ext cx="1143000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794760"/>
            <a:ext cx="11430000" cy="347472"/>
          </a:xfrm>
          <a:prstGeom prst="rect">
            <a:avLst/>
          </a:prstGeom>
          <a:solidFill>
            <a:srgbClr val="234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822191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Git Workflow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24528"/>
            <a:ext cx="1417320" cy="1783080"/>
          </a:xfrm>
          <a:prstGeom prst="rect">
            <a:avLst/>
          </a:prstGeom>
          <a:solidFill>
            <a:srgbClr val="234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434840"/>
            <a:ext cx="1325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Feature
Branch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5001768"/>
            <a:ext cx="7315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65960" y="4965192"/>
            <a:ext cx="9144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993392" y="4224528"/>
            <a:ext cx="1417320" cy="1783080"/>
          </a:xfrm>
          <a:prstGeom prst="rect">
            <a:avLst/>
          </a:prstGeom>
          <a:solidFill>
            <a:srgbClr val="009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39112" y="4434840"/>
            <a:ext cx="1325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Local
Commit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10712" y="5001768"/>
            <a:ext cx="7315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56432" y="4965192"/>
            <a:ext cx="9144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83864" y="4224528"/>
            <a:ext cx="1417320" cy="17830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9584" y="4434840"/>
            <a:ext cx="1325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Push to
GitHub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01184" y="5001768"/>
            <a:ext cx="7315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946904" y="4965192"/>
            <a:ext cx="9144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74336" y="4224528"/>
            <a:ext cx="1417320" cy="17830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0056" y="4434840"/>
            <a:ext cx="1325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Pull
Request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91656" y="5001768"/>
            <a:ext cx="7315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37376" y="4965192"/>
            <a:ext cx="9144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64808" y="4224528"/>
            <a:ext cx="1417320" cy="178308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4434840"/>
            <a:ext cx="1325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Code
Review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82128" y="5001768"/>
            <a:ext cx="7315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927848" y="4965192"/>
            <a:ext cx="9144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955280" y="4224528"/>
            <a:ext cx="1417320" cy="1783080"/>
          </a:xfrm>
          <a:prstGeom prst="rect">
            <a:avLst/>
          </a:prstGeom>
          <a:solidFill>
            <a:srgbClr val="C0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1000" y="4434840"/>
            <a:ext cx="1325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Merge to
Main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72600" y="5001768"/>
            <a:ext cx="7315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418320" y="4965192"/>
            <a:ext cx="9144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445752" y="4224528"/>
            <a:ext cx="1417320" cy="17830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91472" y="4434840"/>
            <a:ext cx="1325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Deploy
(Docker)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Languages &amp; 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Technology stack powering the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</a:rPr>
              <a:t>Exam Detection System  |  AI-Powered Exam Monitoring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352044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457200" cy="1078992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6002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399032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4E"/>
                </a:solidFill>
              </a:rPr>
              <a:t>Python 3.12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17282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v3.12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1920240"/>
            <a:ext cx="2862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Primary backend language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59352" y="1325880"/>
            <a:ext cx="352044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59352" y="1325880"/>
            <a:ext cx="457200" cy="1078992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05072" y="16002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1399032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060"/>
                </a:solidFill>
              </a:rPr>
              <a:t>Flask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17282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v3.1.0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1920240"/>
            <a:ext cx="2862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Web framework &amp; REST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44384" y="1325880"/>
            <a:ext cx="3520440" cy="1078992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44384" y="1325880"/>
            <a:ext cx="457200" cy="1078992"/>
          </a:xfrm>
          <a:prstGeom prst="rect">
            <a:avLst/>
          </a:prstGeom>
          <a:solidFill>
            <a:srgbClr val="009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0104" y="16002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1399032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73B"/>
                </a:solidFill>
              </a:rPr>
              <a:t>ONNX 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17282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v1.21.1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76104" y="1380744"/>
            <a:ext cx="1097280" cy="228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76104" y="138074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44444"/>
                </a:solidFill>
              </a:rPr>
              <a:t>★ KEY CHANGE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3024" y="1920240"/>
            <a:ext cx="2862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⚡ FASTER inference – replaces heavy PyTorch
20-40× smaller footprint, CPU-optimised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329416" y="1325880"/>
            <a:ext cx="352044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329416" y="1325880"/>
            <a:ext cx="457200" cy="1078992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75136" y="16002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78056" y="1399032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000"/>
                </a:solidFill>
              </a:rPr>
              <a:t>OpenCV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78056" y="17282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v4.10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78056" y="1920240"/>
            <a:ext cx="2862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Frame capture, resize, letterbox, JPEG encode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569463"/>
            <a:ext cx="352044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2569463"/>
            <a:ext cx="457200" cy="107899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2843783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" y="2642615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F0"/>
                </a:solidFill>
              </a:rPr>
              <a:t>Flask-SocketIO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" y="297179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v5.4.1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" y="3163823"/>
            <a:ext cx="2862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WebSocket real-time frame streaming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59352" y="2569463"/>
            <a:ext cx="352044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959352" y="2569463"/>
            <a:ext cx="457200" cy="1078992"/>
          </a:xfrm>
          <a:prstGeom prst="rect">
            <a:avLst/>
          </a:prstGeom>
          <a:solidFill>
            <a:srgbClr val="C0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05072" y="2843783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07992" y="2642615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2525"/>
                </a:solidFill>
              </a:rPr>
              <a:t>SQLAlchemy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07992" y="297179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v3.1.1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07992" y="3163823"/>
            <a:ext cx="2862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ORM for PostgreSQL database access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44384" y="2569463"/>
            <a:ext cx="352044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644384" y="2569463"/>
            <a:ext cx="457200" cy="107899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90104" y="2843783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3024" y="2642615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A0DAD"/>
                </a:solidFill>
              </a:rPr>
              <a:t>YOLOv8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93024" y="297179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vUltralytics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93024" y="3163823"/>
            <a:ext cx="2862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Object detection model (exported to ONNX)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329416" y="2569463"/>
            <a:ext cx="352044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329416" y="2569463"/>
            <a:ext cx="457200" cy="107899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375136" y="2843783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��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878056" y="2642615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44"/>
                </a:solidFill>
              </a:rPr>
              <a:t>HTML5 / JS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878056" y="297179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vES2022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878056" y="3163823"/>
            <a:ext cx="2862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Browser dashboard with canvas rendering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813048"/>
            <a:ext cx="352044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4320" y="3813048"/>
            <a:ext cx="457200" cy="1078992"/>
          </a:xfrm>
          <a:prstGeom prst="rect">
            <a:avLst/>
          </a:prstGeom>
          <a:solidFill>
            <a:srgbClr val="234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408736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🐳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59" y="38862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3499A"/>
                </a:solidFill>
              </a:rPr>
              <a:t>Docker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59" y="421538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vlatest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59" y="4407408"/>
            <a:ext cx="2862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Containerised deployment &amp; environment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59352" y="3813048"/>
            <a:ext cx="352044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959352" y="3813048"/>
            <a:ext cx="457200" cy="1078992"/>
          </a:xfrm>
          <a:prstGeom prst="rect">
            <a:avLst/>
          </a:prstGeom>
          <a:solidFill>
            <a:srgbClr val="8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05072" y="408736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07992" y="38862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06000"/>
                </a:solidFill>
              </a:rPr>
              <a:t>Gunicorn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07992" y="421538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v21.2.0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07992" y="4407408"/>
            <a:ext cx="2862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Production WSGI server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5669280"/>
            <a:ext cx="11640312" cy="6858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74320" y="5669280"/>
            <a:ext cx="73152" cy="685800"/>
          </a:xfrm>
          <a:prstGeom prst="rect">
            <a:avLst/>
          </a:prstGeom>
          <a:solidFill>
            <a:srgbClr val="009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57150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⚡  Why ONNX Runtime?  Previous versions used PyTorch for inference (heavy, slow, ~1 GB). ONNX Runtime delivers 20-40× faster inference at runtime, uses only ~50 MB, runs purely on CPU, and allows the model to be deployed without any training dependencies.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APIs &amp; External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Roboflow for dataset labelling — all other processing is local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</a:rPr>
              <a:t>Exam Detection System  |  AI-Powered Exam Monitoring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53949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5394960" cy="5029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🟣  Roboflow — Dataset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011679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Used ONLY for dataset acquisition &amp; annotation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322575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Provides labelled exam images (cheating / not_cheating)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633471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Automatic augmentation: flip, crop, brightness, blur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944367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Export to YOLOv8 format for model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255263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No Roboflow calls at runtime — fully offline after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566159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▸  Dataset version-controlled and reproducible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617720"/>
            <a:ext cx="5212080" cy="1554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63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0DAD"/>
                </a:solidFill>
              </a:rPr>
              <a:t>Dataset Pipeline: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956048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Roboflow
Dataset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956048"/>
            <a:ext cx="868680" cy="6858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074920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Roboflow
Dataset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956048"/>
            <a:ext cx="2011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956048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YOLOv8
Training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72768" y="4956048"/>
            <a:ext cx="868680" cy="6858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72768" y="5074920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YOLOv8
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7168" y="4956048"/>
            <a:ext cx="2011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34056" y="4956048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ONNX
Export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34056" y="4956048"/>
            <a:ext cx="868680" cy="6858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34056" y="5074920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ONNX
Export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48456" y="4956048"/>
            <a:ext cx="2011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95344" y="4956048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Runtime
Inference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95344" y="4956048"/>
            <a:ext cx="868680" cy="6858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95344" y="5074920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Runtime
Inference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1280160"/>
            <a:ext cx="59893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43600" y="1280160"/>
            <a:ext cx="5989320" cy="502920"/>
          </a:xfrm>
          <a:prstGeom prst="rect">
            <a:avLst/>
          </a:prstGeom>
          <a:solidFill>
            <a:srgbClr val="234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132588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🔵  Internal REST API (Flask)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1874519"/>
            <a:ext cx="640080" cy="256032"/>
          </a:xfrm>
          <a:prstGeom prst="rect">
            <a:avLst/>
          </a:prstGeom>
          <a:solidFill>
            <a:srgbClr val="009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1892807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48272" y="1892807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3499A"/>
                </a:solidFill>
              </a:rPr>
              <a:t>/stats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1892807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Aggregated live + upload stats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2167127"/>
            <a:ext cx="640080" cy="256032"/>
          </a:xfrm>
          <a:prstGeom prst="rect">
            <a:avLst/>
          </a:prstGeom>
          <a:solidFill>
            <a:srgbClr val="234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2185415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8272" y="2185415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3499A"/>
                </a:solidFill>
              </a:rPr>
              <a:t>/config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2185415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Set confidence threshold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2459735"/>
            <a:ext cx="640080" cy="256032"/>
          </a:xfrm>
          <a:prstGeom prst="rect">
            <a:avLst/>
          </a:prstGeom>
          <a:solidFill>
            <a:srgbClr val="234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2478023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48272" y="2478023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3499A"/>
                </a:solidFill>
              </a:rPr>
              <a:t>/inference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23960" y="2478023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Toggle inference on/off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2752343"/>
            <a:ext cx="640080" cy="256032"/>
          </a:xfrm>
          <a:prstGeom prst="rect">
            <a:avLst/>
          </a:prstGeom>
          <a:solidFill>
            <a:srgbClr val="009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5040" y="2770631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48272" y="2770631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3499A"/>
                </a:solidFill>
              </a:rPr>
              <a:t>/cameras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23960" y="2770631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List cameras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3044951"/>
            <a:ext cx="640080" cy="256032"/>
          </a:xfrm>
          <a:prstGeom prst="rect">
            <a:avLst/>
          </a:prstGeom>
          <a:solidFill>
            <a:srgbClr val="234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35040" y="3063239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48272" y="3063239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3499A"/>
                </a:solidFill>
              </a:rPr>
              <a:t>/cameras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23960" y="3063239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Add camera source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5040" y="3337559"/>
            <a:ext cx="640080" cy="256032"/>
          </a:xfrm>
          <a:prstGeom prst="rect">
            <a:avLst/>
          </a:prstGeom>
          <a:solidFill>
            <a:srgbClr val="C0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35040" y="3355847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48272" y="3355847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3499A"/>
                </a:solidFill>
              </a:rPr>
              <a:t>/cameras/&lt;id&gt;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23960" y="3355847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Remove camera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35040" y="3630167"/>
            <a:ext cx="640080" cy="256032"/>
          </a:xfrm>
          <a:prstGeom prst="rect">
            <a:avLst/>
          </a:prstGeom>
          <a:solidFill>
            <a:srgbClr val="234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35040" y="3648455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48272" y="3648455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3499A"/>
                </a:solidFill>
              </a:rPr>
              <a:t>/cameras/&lt;id&gt;/start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23960" y="3648455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Start streaming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35040" y="3922775"/>
            <a:ext cx="640080" cy="256032"/>
          </a:xfrm>
          <a:prstGeom prst="rect">
            <a:avLst/>
          </a:prstGeom>
          <a:solidFill>
            <a:srgbClr val="009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35040" y="3941063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48272" y="3941063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3499A"/>
                </a:solidFill>
              </a:rPr>
              <a:t>/video_feed/&lt;id&gt;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23960" y="3941063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MJPEG stream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35040" y="4215383"/>
            <a:ext cx="640080" cy="256032"/>
          </a:xfrm>
          <a:prstGeom prst="rect">
            <a:avLst/>
          </a:prstGeom>
          <a:solidFill>
            <a:srgbClr val="234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35040" y="4233671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48272" y="4233671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3499A"/>
                </a:solidFill>
              </a:rPr>
              <a:t>/upload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23960" y="4233671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Upload video file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35040" y="4507992"/>
            <a:ext cx="640080" cy="256032"/>
          </a:xfrm>
          <a:prstGeom prst="rect">
            <a:avLst/>
          </a:prstGeom>
          <a:solidFill>
            <a:srgbClr val="234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035040" y="4526279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48272" y="4526279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3499A"/>
                </a:solidFill>
              </a:rPr>
              <a:t>/upload/infer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23960" y="4526279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Batch video analysis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4800600"/>
            <a:ext cx="640080" cy="256032"/>
          </a:xfrm>
          <a:prstGeom prst="rect">
            <a:avLst/>
          </a:prstGeom>
          <a:solidFill>
            <a:srgbClr val="009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035040" y="481888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48272" y="481888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3499A"/>
                </a:solidFill>
              </a:rPr>
              <a:t>/upload/stream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23960" y="4818888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SSE real-time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Comparison with Previous 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How this system stands out from prior exam monitoring approaches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</a:rPr>
              <a:t>Exam Detection System  |  AI-Powered Exam Monitoring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61872"/>
            <a:ext cx="2679192" cy="4572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298448"/>
            <a:ext cx="26151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35808" y="1261872"/>
            <a:ext cx="2496312" cy="4572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9815" y="1298448"/>
            <a:ext cx="24323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Traditional CCTV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50992" y="1261872"/>
            <a:ext cx="2496312" cy="457200"/>
          </a:xfrm>
          <a:prstGeom prst="rect">
            <a:avLst/>
          </a:prstGeom>
          <a:solidFill>
            <a:srgbClr val="234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0" y="1298448"/>
            <a:ext cx="24323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Basic ML Prototype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4464" y="1261872"/>
            <a:ext cx="3410712" cy="457200"/>
          </a:xfrm>
          <a:prstGeom prst="rect">
            <a:avLst/>
          </a:prstGeom>
          <a:solidFill>
            <a:srgbClr val="009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298448"/>
            <a:ext cx="334670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This System (v1)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1764792"/>
            <a:ext cx="267919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1801368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Detection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35808" y="1764792"/>
            <a:ext cx="249631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9815" y="1801368"/>
            <a:ext cx="2432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Manual human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50992" y="1764792"/>
            <a:ext cx="249631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5000" y="1801368"/>
            <a:ext cx="2432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Basic frame diff or simple CNN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84464" y="1764792"/>
            <a:ext cx="3410712" cy="41148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2" y="1801368"/>
            <a:ext cx="33467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444"/>
                </a:solidFill>
              </a:rPr>
              <a:t>YOLOv8 ONNX — 2 classes, bounding boxes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203704"/>
            <a:ext cx="2679192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" y="2240280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Real-time?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35808" y="2203704"/>
            <a:ext cx="2496312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99815" y="2240280"/>
            <a:ext cx="2432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2525"/>
                </a:solidFill>
              </a:rPr>
              <a:t>❌  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50992" y="2203704"/>
            <a:ext cx="2496312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5000" y="2240280"/>
            <a:ext cx="2432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⚠  Slow (PyTorch)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84464" y="2203704"/>
            <a:ext cx="3410712" cy="41148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48472" y="2240280"/>
            <a:ext cx="33467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73B"/>
                </a:solidFill>
              </a:rPr>
              <a:t>✅  Yes — &lt; 50 ms per frame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642615"/>
            <a:ext cx="267919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" y="2679191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Inference Engine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35808" y="2642615"/>
            <a:ext cx="249631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99815" y="2679191"/>
            <a:ext cx="2432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N/A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50992" y="2642615"/>
            <a:ext cx="249631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15000" y="2679191"/>
            <a:ext cx="2432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PyTorch (~1 GB)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84464" y="2642615"/>
            <a:ext cx="3410712" cy="41148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8472" y="2679191"/>
            <a:ext cx="33467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444"/>
                </a:solidFill>
              </a:rPr>
              <a:t>ONNX Runtime (~50 MB) 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3081528"/>
            <a:ext cx="2679192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" y="3118104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Multi-camera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35808" y="3081528"/>
            <a:ext cx="2496312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99815" y="3118104"/>
            <a:ext cx="2432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2525"/>
                </a:solidFill>
              </a:rPr>
              <a:t>❌  No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50992" y="3081528"/>
            <a:ext cx="2496312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15000" y="3118104"/>
            <a:ext cx="2432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2525"/>
                </a:solidFill>
              </a:rPr>
              <a:t>❌  Single stream only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84464" y="3081528"/>
            <a:ext cx="3410712" cy="41148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48472" y="3118104"/>
            <a:ext cx="33467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73B"/>
                </a:solidFill>
              </a:rPr>
              <a:t>✅  Up to 5 concurrent cameras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520439"/>
            <a:ext cx="267919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2608" y="3557015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WebSocket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35808" y="3520439"/>
            <a:ext cx="249631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99815" y="3557015"/>
            <a:ext cx="2432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2525"/>
                </a:solidFill>
              </a:rPr>
              <a:t>❌  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50992" y="3520439"/>
            <a:ext cx="249631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15000" y="3557015"/>
            <a:ext cx="2432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2525"/>
                </a:solidFill>
              </a:rPr>
              <a:t>❌  HTTP polling only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84464" y="3520439"/>
            <a:ext cx="3410712" cy="41148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48472" y="3557015"/>
            <a:ext cx="33467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73B"/>
                </a:solidFill>
              </a:rPr>
              <a:t>✅  Socket.IO live push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3959352"/>
            <a:ext cx="2679192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2608" y="3995928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Database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35808" y="3959352"/>
            <a:ext cx="2496312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99815" y="3995928"/>
            <a:ext cx="2432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2525"/>
                </a:solidFill>
              </a:rPr>
              <a:t>❌  Log files only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50992" y="3959352"/>
            <a:ext cx="2496312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15000" y="3995928"/>
            <a:ext cx="2432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2525"/>
                </a:solidFill>
              </a:rPr>
              <a:t>❌  None / CSV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84464" y="3959352"/>
            <a:ext cx="3410712" cy="41148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48472" y="3995928"/>
            <a:ext cx="33467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73B"/>
                </a:solidFill>
              </a:rPr>
              <a:t>✅  PostgreSQL with analytics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4398264"/>
            <a:ext cx="267919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92608" y="4434840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Video Upload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35808" y="4398264"/>
            <a:ext cx="249631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99815" y="4434840"/>
            <a:ext cx="2432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2525"/>
                </a:solidFill>
              </a:rPr>
              <a:t>❌  No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50992" y="4398264"/>
            <a:ext cx="249631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15000" y="4434840"/>
            <a:ext cx="2432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2525"/>
                </a:solidFill>
              </a:rPr>
              <a:t>❌  Manual CLI only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84464" y="4398264"/>
            <a:ext cx="3410712" cy="41148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48472" y="4434840"/>
            <a:ext cx="33467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73B"/>
                </a:solidFill>
              </a:rPr>
              <a:t>✅  Web upload + batch analysis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4837176"/>
            <a:ext cx="2679192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92608" y="4873752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Dashboard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035808" y="4837176"/>
            <a:ext cx="2496312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099815" y="4873752"/>
            <a:ext cx="2432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2525"/>
                </a:solidFill>
              </a:rPr>
              <a:t>❌  Third-party DVR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50992" y="4837176"/>
            <a:ext cx="2496312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715000" y="4873752"/>
            <a:ext cx="2432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2525"/>
                </a:solidFill>
              </a:rPr>
              <a:t>❌  None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84464" y="4837176"/>
            <a:ext cx="3410712" cy="41148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348472" y="4873752"/>
            <a:ext cx="33467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73B"/>
                </a:solidFill>
              </a:rPr>
              <a:t>✅  Custom responsive web UI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5276088"/>
            <a:ext cx="267919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92608" y="5312664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Deployment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035808" y="5276088"/>
            <a:ext cx="249631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099815" y="5312664"/>
            <a:ext cx="2432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Hardware DVR box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50992" y="5276088"/>
            <a:ext cx="249631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715000" y="5312664"/>
            <a:ext cx="2432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Manual setup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284464" y="5276088"/>
            <a:ext cx="3410712" cy="41148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348472" y="5312664"/>
            <a:ext cx="33467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444"/>
                </a:solidFill>
              </a:rPr>
              <a:t>Docker container — 1 command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5715000"/>
            <a:ext cx="2679192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92608" y="5751576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Open Source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035808" y="5715000"/>
            <a:ext cx="2496312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099815" y="5751576"/>
            <a:ext cx="2432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2525"/>
                </a:solidFill>
              </a:rPr>
              <a:t>❌  Proprietary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650992" y="5715000"/>
            <a:ext cx="2496312" cy="411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715000" y="5751576"/>
            <a:ext cx="24323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⚠  Partial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84464" y="5715000"/>
            <a:ext cx="3410712" cy="41148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348472" y="5751576"/>
            <a:ext cx="334670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73B"/>
                </a:solidFill>
              </a:rPr>
              <a:t>✅  GitHub (open source)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Future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Planned enhancements to take the system to the next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</a:rPr>
              <a:t>Exam Detection System  |  AI-Powered Exam Monitoring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544068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274320" cy="1170432"/>
          </a:xfrm>
          <a:prstGeom prst="rect">
            <a:avLst/>
          </a:prstGeom>
          <a:solidFill>
            <a:srgbClr val="234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99032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3499A"/>
                </a:solidFill>
              </a:rPr>
              <a:t>🤖  Larger &amp; Better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37360"/>
            <a:ext cx="4983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Train on a larger, more diverse dataset with additional classes (mobile phone, notes, talking). Improve mAP above 90%.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2472" y="1325880"/>
            <a:ext cx="544068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62472" y="1325880"/>
            <a:ext cx="274320" cy="1170432"/>
          </a:xfrm>
          <a:prstGeom prst="rect">
            <a:avLst/>
          </a:prstGeom>
          <a:solidFill>
            <a:srgbClr val="009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399032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73B"/>
                </a:solidFill>
              </a:rPr>
              <a:t>📱  Mobile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1737360"/>
            <a:ext cx="4983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React Native or Flutter app for exam supervisors — push notifications when cheating is detected.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587752"/>
            <a:ext cx="544068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587752"/>
            <a:ext cx="274320" cy="11704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660904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F0"/>
                </a:solidFill>
              </a:rPr>
              <a:t>☁  Cloud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999232"/>
            <a:ext cx="4983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Deploy on AWS / GCP with auto-scaling. Use S3 for video storage and RDS for PostgreSQL. Add CDN for dashboard.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2472" y="2587752"/>
            <a:ext cx="544068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62472" y="2587752"/>
            <a:ext cx="274320" cy="1170432"/>
          </a:xfrm>
          <a:prstGeom prst="rect">
            <a:avLst/>
          </a:prstGeom>
          <a:solidFill>
            <a:srgbClr val="C0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660904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2525"/>
                </a:solidFill>
              </a:rPr>
              <a:t>🔐  Authentication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2999232"/>
            <a:ext cx="4983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Add JWT-based auth so only authorised supervisors can access the dashboard and camera streams.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49624"/>
            <a:ext cx="544068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849624"/>
            <a:ext cx="274320" cy="1170432"/>
          </a:xfrm>
          <a:prstGeom prst="rect">
            <a:avLst/>
          </a:prstGeom>
          <a:solidFill>
            <a:srgbClr val="C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922776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6000"/>
                </a:solidFill>
              </a:rPr>
              <a:t>📊  Advanced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261104"/>
            <a:ext cx="4983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Detailed per-student tracking, heatmaps of cheating hotspots in the exam hall, trend analysis over sessions.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62472" y="3849624"/>
            <a:ext cx="544068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62472" y="3849624"/>
            <a:ext cx="274320" cy="11704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3922776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000"/>
                </a:solidFill>
              </a:rPr>
              <a:t>⚡  GPU Acceleration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261104"/>
            <a:ext cx="4983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Enable ONNX Runtime GPU provider (CUDA) for GPU-equipped servers to push inference below 5 ms.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111496"/>
            <a:ext cx="544068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111496"/>
            <a:ext cx="274320" cy="117043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184648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A0DAD"/>
                </a:solidFill>
              </a:rPr>
              <a:t>🔔  Alert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522976"/>
            <a:ext cx="4983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Email / SMS / Telegram bot alerts when cheating is detected, with snapshot attachment.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62472" y="5111496"/>
            <a:ext cx="544068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62472" y="5111496"/>
            <a:ext cx="274320" cy="117043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2" y="5184648"/>
            <a:ext cx="4983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080"/>
                </a:solidFill>
              </a:rPr>
              <a:t>🎓  Multi-School SaaS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8232" y="5522976"/>
            <a:ext cx="4983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Multi-tenant architecture so multiple institutions can use one deployment with data isolation.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Completion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0"/>
                </a:solidFill>
              </a:rPr>
              <a:t>Current progress across all major workstreams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CCEE"/>
                </a:solidFill>
              </a:rPr>
              <a:t>Exam Detection System  |  AI-Powered Exam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380744"/>
            <a:ext cx="29260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Backend API &amp; Core Logic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380744"/>
            <a:ext cx="6400800" cy="29260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380744"/>
            <a:ext cx="5760720" cy="292607"/>
          </a:xfrm>
          <a:prstGeom prst="rect">
            <a:avLst/>
          </a:prstGeom>
          <a:solidFill>
            <a:srgbClr val="234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29800" y="1380744"/>
            <a:ext cx="5943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3499A"/>
                </a:solidFill>
              </a:rPr>
              <a:t>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892807"/>
            <a:ext cx="29260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ONNX Inference Engine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892807"/>
            <a:ext cx="6400800" cy="29260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892807"/>
            <a:ext cx="6080759" cy="292607"/>
          </a:xfrm>
          <a:prstGeom prst="rect">
            <a:avLst/>
          </a:prstGeom>
          <a:solidFill>
            <a:srgbClr val="009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800" y="1892807"/>
            <a:ext cx="5943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73B"/>
                </a:solidFill>
              </a:rPr>
              <a:t>95%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404872"/>
            <a:ext cx="29260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Database Integration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404872"/>
            <a:ext cx="6400800" cy="29260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2404872"/>
            <a:ext cx="5120640" cy="292607"/>
          </a:xfrm>
          <a:prstGeom prst="rect">
            <a:avLst/>
          </a:prstGeom>
          <a:solidFill>
            <a:srgbClr val="C0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2404872"/>
            <a:ext cx="5943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2525"/>
                </a:solidFill>
              </a:rPr>
              <a:t>80%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2916936"/>
            <a:ext cx="29260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Frontend Dashboard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2916936"/>
            <a:ext cx="6400800" cy="29260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91840" y="2916936"/>
            <a:ext cx="4800600" cy="29260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2916936"/>
            <a:ext cx="5943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F0"/>
                </a:solidFill>
              </a:rPr>
              <a:t>75%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3429000"/>
            <a:ext cx="29260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Camera Management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429000"/>
            <a:ext cx="6400800" cy="29260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0" y="3429000"/>
            <a:ext cx="5440680" cy="292607"/>
          </a:xfrm>
          <a:prstGeom prst="rect">
            <a:avLst/>
          </a:prstGeom>
          <a:solidFill>
            <a:srgbClr val="C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3429000"/>
            <a:ext cx="5943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6000"/>
                </a:solidFill>
              </a:rPr>
              <a:t>85%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3941063"/>
            <a:ext cx="29260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Video Upload &amp; Analysis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3941063"/>
            <a:ext cx="6400800" cy="29260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91840" y="3941063"/>
            <a:ext cx="5120640" cy="292607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9800" y="3941063"/>
            <a:ext cx="5943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0DAD"/>
                </a:solidFill>
              </a:rPr>
              <a:t>80%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4453128"/>
            <a:ext cx="29260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Testing &amp; QA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4453128"/>
            <a:ext cx="6400800" cy="29260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91840" y="4453128"/>
            <a:ext cx="2560320" cy="2926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9800" y="4453128"/>
            <a:ext cx="5943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000"/>
                </a:solidFill>
              </a:rPr>
              <a:t>40%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4965192"/>
            <a:ext cx="29260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Documentation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4965192"/>
            <a:ext cx="6400800" cy="29260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91840" y="4965192"/>
            <a:ext cx="2880360" cy="292607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29800" y="4965192"/>
            <a:ext cx="5943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4444"/>
                </a:solidFill>
              </a:rPr>
              <a:t>45%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5477256"/>
            <a:ext cx="29260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Deployment (Docker)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5477256"/>
            <a:ext cx="6400800" cy="29260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91840" y="5477256"/>
            <a:ext cx="4480559" cy="292607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29800" y="5477256"/>
            <a:ext cx="5943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4E"/>
                </a:solidFill>
              </a:rPr>
              <a:t>70%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5989320"/>
            <a:ext cx="29260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Mobile / Cloud Features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91840" y="5989320"/>
            <a:ext cx="6400800" cy="29260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91840" y="5989320"/>
            <a:ext cx="640080" cy="292607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29800" y="5989320"/>
            <a:ext cx="5943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080"/>
                </a:solidFill>
              </a:rPr>
              <a:t>10%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6080760"/>
            <a:ext cx="11640312" cy="530352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126480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Overall Project Completion:  67%  ★  Active development  —  Core detection engine complete, testing &amp; cloud features in progress.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